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IBM Plex Mono SemiBold"/>
      <p:regular r:id="rId31"/>
      <p:bold r:id="rId32"/>
      <p:italic r:id="rId33"/>
      <p:boldItalic r:id="rId34"/>
    </p:embeddedFont>
    <p:embeddedFont>
      <p:font typeface="IBM Plex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MonoSemiBol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BMPlexMonoSemiBold-italic.fntdata"/><Relationship Id="rId10" Type="http://schemas.openxmlformats.org/officeDocument/2006/relationships/slide" Target="slides/slide5.xml"/><Relationship Id="rId32" Type="http://schemas.openxmlformats.org/officeDocument/2006/relationships/font" Target="fonts/IBMPlexMonoSemiBold-bold.fntdata"/><Relationship Id="rId13" Type="http://schemas.openxmlformats.org/officeDocument/2006/relationships/slide" Target="slides/slide8.xml"/><Relationship Id="rId35" Type="http://schemas.openxmlformats.org/officeDocument/2006/relationships/font" Target="fonts/IBMPlexMono-regular.fntdata"/><Relationship Id="rId12" Type="http://schemas.openxmlformats.org/officeDocument/2006/relationships/slide" Target="slides/slide7.xml"/><Relationship Id="rId34" Type="http://schemas.openxmlformats.org/officeDocument/2006/relationships/font" Target="fonts/IBMPlexMono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BMPlexMono-italic.fntdata"/><Relationship Id="rId14" Type="http://schemas.openxmlformats.org/officeDocument/2006/relationships/slide" Target="slides/slide9.xml"/><Relationship Id="rId36" Type="http://schemas.openxmlformats.org/officeDocument/2006/relationships/font" Target="fonts/IBMPlex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BMPlex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bb5303f82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bbb5303f82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bb5303f8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bbb5303f8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b5303f82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bb5303f8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873be9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1873be9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873be98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1873be98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bb5303f8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bb5303f8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873be9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d1873be9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600ce90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9600ce90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bb5303f82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bbb5303f82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600ce90d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600ce90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600ce90d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600ce90d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00ce90d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9600ce90d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600ce90d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600ce90d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7542b3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07542b3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07542b3e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d07542b3e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7542b3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07542b3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6511ad9a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6511ad9a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6511ad9a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96511ad9a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511ad9a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96511ad9a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6511ad9a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96511ad9a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6511ad9af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96511ad9af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600ce90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9600ce90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b4sh0xf.github.io" TargetMode="External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pple.com/documentation/kernel/nlist" TargetMode="External"/><Relationship Id="rId4" Type="http://schemas.openxmlformats.org/officeDocument/2006/relationships/hyperlink" Target="https://github.com/opensource-apple/cctools/blob/master/include/mach-o/nlist.h" TargetMode="External"/><Relationship Id="rId10" Type="http://schemas.openxmlformats.org/officeDocument/2006/relationships/hyperlink" Target="https://developer.apple.com/library/archive/documentation/System/Conceptual/ManPages_iPhoneOS/index.html" TargetMode="External"/><Relationship Id="rId9" Type="http://schemas.openxmlformats.org/officeDocument/2006/relationships/hyperlink" Target="https://developer.apple.com/library/archive/documentation/System/Conceptual/ManPages_iPhoneOS/man3/intro.3.html" TargetMode="External"/><Relationship Id="rId5" Type="http://schemas.openxmlformats.org/officeDocument/2006/relationships/hyperlink" Target="https://github.com/swiftlang/swift/blob/main/docs/ABI/Mangling.rst" TargetMode="External"/><Relationship Id="rId6" Type="http://schemas.openxmlformats.org/officeDocument/2006/relationships/hyperlink" Target="https://developer.apple.com/documentation/objectivec/objc_msgsend" TargetMode="External"/><Relationship Id="rId7" Type="http://schemas.openxmlformats.org/officeDocument/2006/relationships/hyperlink" Target="https://developer.apple.com/library/archive/documentation/Cocoa/Conceptual/ObjCRuntimeGuide/Introduction/Introduction.html#//apple_ref/doc/uid/TP40008048-CH1-SW1" TargetMode="External"/><Relationship Id="rId8" Type="http://schemas.openxmlformats.org/officeDocument/2006/relationships/hyperlink" Target="https://github.com/opensource-apple/objc4/blob/master/runtime/message.h#L85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7650" y="2032600"/>
            <a:ext cx="48144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9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ios dynamic instrumentation</a:t>
            </a:r>
            <a:endParaRPr b="1" i="0" sz="29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using frida to analyze ios</a:t>
            </a:r>
            <a:endParaRPr b="1" sz="2000">
              <a:solidFill>
                <a:srgbClr val="9303DE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applications</a:t>
            </a:r>
            <a:endParaRPr b="1" sz="2000">
              <a:solidFill>
                <a:srgbClr val="9303D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8784000" y="0"/>
            <a:ext cx="375900" cy="5143500"/>
          </a:xfrm>
          <a:prstGeom prst="rect">
            <a:avLst/>
          </a:prstGeom>
          <a:solidFill>
            <a:srgbClr val="930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 title="logo_h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00" y="331725"/>
            <a:ext cx="1147825" cy="4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100" y="748600"/>
            <a:ext cx="3407100" cy="37745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628525" y="4256050"/>
            <a:ext cx="54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9303DE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@gustavo/b4sh0xf</a:t>
            </a:r>
            <a:endParaRPr b="1" sz="1800">
              <a:solidFill>
                <a:srgbClr val="9303D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512" y="1270200"/>
            <a:ext cx="762374" cy="7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337175" y="186350"/>
            <a:ext cx="514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2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2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0x01: whoami?</a:t>
            </a:r>
            <a:endParaRPr b="1" i="0" sz="10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00800" y="601200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Mono"/>
              <a:buChar char="●"/>
            </a:pPr>
            <a:r>
              <a:rPr b="1" lang="pt-BR"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estudante de engenharia da computação no CIn-UFPE.</a:t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Char char="●"/>
            </a:pPr>
            <a:r>
              <a:rPr b="1" lang="pt-BR"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estudante de segurança ofensiva (web/mobile)</a:t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Char char="●"/>
            </a:pPr>
            <a:r>
              <a:rPr b="1" lang="pt-BR"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aluno/ctf player @ hacking club</a:t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9075" y="186349"/>
            <a:ext cx="1551724" cy="130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3350" y="2141700"/>
            <a:ext cx="2703175" cy="27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0x02: resumo da talk</a:t>
            </a:r>
            <a:endParaRPr b="1" sz="22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00800" y="801575"/>
            <a:ext cx="85788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iremos começar entendendo alguns princípios do funcionamento do sistema iOS e terminaremos com uma demonstração prática de hooking em métodos escritos em objective-C, swift e de shared libs (.dylib)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tópicos: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noções básicas do iOS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swift x objective-C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hands-on: hook!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37175" y="186350"/>
            <a:ext cx="56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0x03: noções básicas de iOS</a:t>
            </a:r>
            <a:endParaRPr b="0" i="0" sz="10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sistema UNIX-based, utilizando como base o Darwin OS e implementando o kernel híbrido XNU, que implementa funcionalidades tanto do freeBSD como do microkernel MACH.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assim como no Mac OS, os aplicativos são binários mach-o. suas seções mapeadas na memória, bibliotecas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dinâmicas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(dylibs) carregadas pelo dyld e o sistema operacional recebe o entrypoint do binário para inicializar a stack de execução.</a:t>
            </a:r>
            <a:endParaRPr sz="12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337175" y="186350"/>
            <a:ext cx="55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swift x objective-C</a:t>
            </a:r>
            <a:endParaRPr b="1" sz="22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00800" y="801575"/>
            <a:ext cx="83289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 objective-C é um superset da linguagem C, herdando a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sintaxe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desta linguagem, mas implementando recursos como orientação a objetos, tipagem dinâmica,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runtime, etc. sendo a base para o desenvolvimento do ecossitema apple.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 execução do código objective-C depende tanto de um compilador como um runtime system, que é o responsável por gerenciar o carregamento dinâmico das classes bem como o encaminhamento de mensagens para outros objetos.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337175" y="186350"/>
            <a:ext cx="55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swift x objective-C</a:t>
            </a:r>
            <a:endParaRPr b="1" sz="22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00800" y="801575"/>
            <a:ext cx="83289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 resolução dinâmica das classes e dos métodos é feita pela função objc_msgSend(), cujos dois primeiros argumentos são, respectivamente, a classe e um de seus métodos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075" y="2368275"/>
            <a:ext cx="4244874" cy="23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2867000" y="46952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1. apple docs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337175" y="186350"/>
            <a:ext cx="55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swift x objective-C</a:t>
            </a:r>
            <a:endParaRPr b="1" sz="22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00800" y="801575"/>
            <a:ext cx="83289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figura 1: esquema visual aa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950" y="678950"/>
            <a:ext cx="7797751" cy="41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figura 1: esquema visual 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2317350" y="4805325"/>
            <a:ext cx="450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2. header da função objc_msgSend()</a:t>
            </a:r>
            <a:endParaRPr b="1" i="1" sz="13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337175" y="186350"/>
            <a:ext cx="772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swift x objective-C</a:t>
            </a:r>
            <a:endParaRPr b="0" i="0" sz="10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 swift é uma linguagem de programação open source desenvolvida pela apple e lançada em 2014, projetada para ter alta performance, sintaxe simples, interoperabilidade com C/C++/objective-C e também para ser segura by design.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essa linguagem não possui um runtime, ou seja, todo o código que escrevemos é compilado para dentro do binário mach-o, sendo armazenado na seção _TEXT.</a:t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337175" y="186350"/>
            <a:ext cx="772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swift x objective-C</a:t>
            </a:r>
            <a:endParaRPr b="0" i="0" sz="10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450" y="665688"/>
            <a:ext cx="7252425" cy="42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2641200" y="4810250"/>
            <a:ext cx="386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3. análise com o radare2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337175" y="186350"/>
            <a:ext cx="772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swift x objective-C</a:t>
            </a:r>
            <a:endParaRPr b="0" i="0" sz="10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essas diferenças quanto à execução dos dois códigos interferem na forma como hookamos os seus métodos.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para código escrito em objective-C, o frida oferece uma api para interagir com com o runtime da linguagem.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já para código escrito em swift, precisamos fazer attach no endereço base do binário mach-o e fazer o hook nos endereços de cada método, passando um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ponteiro.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475" y="288975"/>
            <a:ext cx="1399900" cy="13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337175" y="186350"/>
            <a:ext cx="6025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swift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analisando o mach-o com o ghidra, procuramos nas strings por palavras-chave como “JailBreakDetection”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25" y="2303250"/>
            <a:ext cx="8835000" cy="181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2985000" y="41891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4. função no ghidra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337175" y="186350"/>
            <a:ext cx="6025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swift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com isso, pegamos a nlist de um dos métodos utilizados para implementar essa detecção, bem como o seu mangled name, que por sua vez, é o nome que resulta da alteração feita pelo compilador do nome original do método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5" y="2384850"/>
            <a:ext cx="8808726" cy="22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2985000" y="46484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5. comparação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/>
        </p:nvSpPr>
        <p:spPr>
          <a:xfrm>
            <a:off x="337175" y="186350"/>
            <a:ext cx="6025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swift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 nlist, segundo a documentação da apple é do que uma struct que declara algumas propriedades de símbolos dentro de um binário, em que n_value é o seu offset. vamos começar a escrever nosso script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4037" y="2083700"/>
            <a:ext cx="6015926" cy="261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3119200" y="46954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6. struct nlist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/>
        </p:nvSpPr>
        <p:spPr>
          <a:xfrm>
            <a:off x="337175" y="186350"/>
            <a:ext cx="6025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swift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250" y="805213"/>
            <a:ext cx="802005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3247275" y="47390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7. iniciando o script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/>
        </p:nvSpPr>
        <p:spPr>
          <a:xfrm>
            <a:off x="337175" y="186350"/>
            <a:ext cx="6025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swift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pra finalizar o script, fazemos attach no ponteiro para o binário mach-o e varremos a sua memória hookando cada um dos métodos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513" y="1609125"/>
            <a:ext cx="7334975" cy="31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3079550" y="4802850"/>
            <a:ext cx="320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8. finalizando o script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/>
        </p:nvSpPr>
        <p:spPr>
          <a:xfrm>
            <a:off x="337175" y="186350"/>
            <a:ext cx="67167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objective-C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para começar, podemos usar a api do ObjC que o frida </a:t>
            </a: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disponibiliza</a:t>
            </a: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para listar as classes, pegar a que nos interessa e listar os seus métodos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075" y="1670275"/>
            <a:ext cx="6361324" cy="31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2867000" y="46952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9. análise preliminar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JailBreak detection em objective-C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agora, podemos criar um script para encontrar nossa classe automaticamente e hookar todos os seus métodos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650" y="1494275"/>
            <a:ext cx="5802499" cy="32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3072000" y="46952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10. script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frida detection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voltando pro ghidra, agora iremos buscar o(s) método(s) responsáveis por fazer essa detecção.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12" y="1489700"/>
            <a:ext cx="8254975" cy="32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2985000" y="46952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11. função no ghidra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frida detection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estamos diante da função isPortOpen(), escrita em swift. seguindo o disassemble, encontramos 3 chamadas </a:t>
            </a: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de função interessantes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850" y="1460925"/>
            <a:ext cx="7024200" cy="3411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 txBox="1"/>
          <p:nvPr/>
        </p:nvSpPr>
        <p:spPr>
          <a:xfrm>
            <a:off x="2926050" y="4813150"/>
            <a:ext cx="311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12. chamadas de função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frida detection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1" name="Google Shape;201;p32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essa é uma técnica conhecida de anti frida, em que é feito um bind na porta local 27042 do dispositivo (porta default do frida-server), aí caso já haja uma conexão ouvindo nessa porta, o resultado do bind é -1 e o aplicativo detecta o frida-server. logo, nosso objetivo é hookar esses 3 métodos e modificar o return value dos 3 para 0. forçando a conexão a ter status de </a:t>
            </a: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bem-sucedida.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essas funções estão disponíveis na dynamic librariy libSystem.dylib, que é onde estão definidas as apis do iOS para funções mais low-level, como as clássicas da libc, por exemplo, que é o nosso caso.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frida detection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antes de fazer o script, verifiquemos a informação do slide anterior usando o frida.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875" y="1358675"/>
            <a:ext cx="7094252" cy="353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 txBox="1"/>
          <p:nvPr/>
        </p:nvSpPr>
        <p:spPr>
          <a:xfrm>
            <a:off x="2788350" y="46952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13. exports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frida detection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" name="Google Shape;215;p34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agora, basta passar os ponteiros para cada um dos métodos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163" y="1225375"/>
            <a:ext cx="7455775" cy="358022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 txBox="1"/>
          <p:nvPr/>
        </p:nvSpPr>
        <p:spPr>
          <a:xfrm>
            <a:off x="3256725" y="4805600"/>
            <a:ext cx="308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14. script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/>
        </p:nvSpPr>
        <p:spPr>
          <a:xfrm>
            <a:off x="337175" y="186350"/>
            <a:ext cx="7024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0x06: hands-on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3" name="Google Shape;223;p35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para a PoC final, vamos concatenar os 3 scripts em um só e mostrar ao vivo!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●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toolkit: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○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iphone 6s usado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○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ghidra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 SemiBold"/>
              <a:buChar char="○"/>
            </a:pPr>
            <a:r>
              <a:rPr lang="pt-BR" sz="15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frida 17.8.0</a:t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/>
        </p:nvSpPr>
        <p:spPr>
          <a:xfrm>
            <a:off x="337175" y="186350"/>
            <a:ext cx="51483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0x06: refs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apple docs: nlist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/usr/include/mach-o/nlist.h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5"/>
              </a:rPr>
              <a:t>swift name mangling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6"/>
              </a:rPr>
              <a:t>apple docs: objc_msgSend()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7"/>
              </a:rPr>
              <a:t>objective-C runtime programming guide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8"/>
              </a:rPr>
              <a:t>message headr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9"/>
              </a:rPr>
              <a:t>apple docs: libSystem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Mono SemiBold"/>
              <a:buChar char="●"/>
            </a:pPr>
            <a:r>
              <a:rPr lang="pt-BR" sz="18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10"/>
              </a:rPr>
              <a:t>libSystem functions</a:t>
            </a:r>
            <a:endParaRPr sz="18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/>
          <p:nvPr/>
        </p:nvSpPr>
        <p:spPr>
          <a:xfrm>
            <a:off x="8784000" y="0"/>
            <a:ext cx="375900" cy="5143500"/>
          </a:xfrm>
          <a:prstGeom prst="rect">
            <a:avLst/>
          </a:prstGeom>
          <a:solidFill>
            <a:srgbClr val="930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2146500" y="2036175"/>
            <a:ext cx="485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41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OBRIGADO</a:t>
            </a:r>
            <a:endParaRPr b="1" i="0" sz="3200" u="none" cap="none" strike="noStrike">
              <a:solidFill>
                <a:srgbClr val="005C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0" y="0"/>
            <a:ext cx="375900" cy="5143500"/>
          </a:xfrm>
          <a:prstGeom prst="rect">
            <a:avLst/>
          </a:prstGeom>
          <a:solidFill>
            <a:srgbClr val="930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37" title="logo_h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6038" y="3769650"/>
            <a:ext cx="1147825" cy="4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