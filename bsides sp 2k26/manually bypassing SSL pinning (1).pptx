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IBM Plex Mono SemiBold"/>
      <p:regular r:id="rId26"/>
      <p:bold r:id="rId27"/>
      <p:italic r:id="rId28"/>
      <p:boldItalic r:id="rId29"/>
    </p:embeddedFont>
    <p:embeddedFont>
      <p:font typeface="IBM Plex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IBMPlexMonoSemiBold-italic.fntdata"/><Relationship Id="rId27" Type="http://schemas.openxmlformats.org/officeDocument/2006/relationships/font" Target="fonts/IBMPlexMono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Mono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Mono-bold.fntdata"/><Relationship Id="rId30" Type="http://schemas.openxmlformats.org/officeDocument/2006/relationships/font" Target="fonts/IBMPlexMono-regular.fntdata"/><Relationship Id="rId11" Type="http://schemas.openxmlformats.org/officeDocument/2006/relationships/slide" Target="slides/slide6.xml"/><Relationship Id="rId33" Type="http://schemas.openxmlformats.org/officeDocument/2006/relationships/font" Target="fonts/IBMPlexMono-boldItalic.fntdata"/><Relationship Id="rId10" Type="http://schemas.openxmlformats.org/officeDocument/2006/relationships/slide" Target="slides/slide5.xml"/><Relationship Id="rId32" Type="http://schemas.openxmlformats.org/officeDocument/2006/relationships/font" Target="fonts/IBMPlex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0fe9ba30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0fe9ba30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162a9a7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e162a9a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1632640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1632640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162a9a77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162a9a7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1632640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1632640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1632640f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1632640f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803ecbb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e803ecb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4sh0xf.github.io/mobile/detections/pinning/#0x00-what-is-ssl-pinning" TargetMode="External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youtube.com/watch?v=j6GzPZmUHhk" TargetMode="External"/><Relationship Id="rId4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youtube.com/watch?v=_zvme8m4XCU" TargetMode="External"/><Relationship Id="rId4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log.cloudflare.com/why-certificate-pinning-is-outdated/" TargetMode="External"/><Relationship Id="rId4" Type="http://schemas.openxmlformats.org/officeDocument/2006/relationships/hyperlink" Target="https://8ksec.io/why-you-should-remove-ssl-pinning-from-your-mobile-apps-in-2025/" TargetMode="External"/><Relationship Id="rId9" Type="http://schemas.openxmlformats.org/officeDocument/2006/relationships/image" Target="../media/image14.png"/><Relationship Id="rId5" Type="http://schemas.openxmlformats.org/officeDocument/2006/relationships/hyperlink" Target="https://pysmali.readthedocs.io/en/latest/api/smali/language.html" TargetMode="External"/><Relationship Id="rId6" Type="http://schemas.openxmlformats.org/officeDocument/2006/relationships/hyperlink" Target="https://sallam.gitbook.io/sec-88/android-appsec/smali/smali-cheat-sheet" TargetMode="External"/><Relationship Id="rId7" Type="http://schemas.openxmlformats.org/officeDocument/2006/relationships/hyperlink" Target="https://docs.oracle.com/javase/8/docs/api/javax/net/ssl/HostnameVerifier.html" TargetMode="External"/><Relationship Id="rId8" Type="http://schemas.openxmlformats.org/officeDocument/2006/relationships/hyperlink" Target="https://square.github.io/okhttp/3.x/okhttp/okhttp3/CertificatePinner.html#check-java.lang.String-java.util.List-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7650" y="2032600"/>
            <a:ext cx="48144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9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manually bypassing S</a:t>
            </a:r>
            <a:r>
              <a:rPr b="1" lang="pt-BR" sz="29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</a:t>
            </a:r>
            <a:r>
              <a:rPr b="1" i="0" lang="pt-BR" sz="29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L pinning</a:t>
            </a:r>
            <a:endParaRPr b="1" i="0" sz="29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does these protection still matters?</a:t>
            </a:r>
            <a:endParaRPr b="1" i="0" sz="2000" u="none" cap="none" strike="noStrike">
              <a:solidFill>
                <a:srgbClr val="005C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8784000" y="0"/>
            <a:ext cx="375900" cy="5143500"/>
          </a:xfrm>
          <a:prstGeom prst="rect">
            <a:avLst/>
          </a:prstGeom>
          <a:solidFill>
            <a:srgbClr val="930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 title="logo_h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00" y="331725"/>
            <a:ext cx="1147825" cy="4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100" y="748600"/>
            <a:ext cx="3407100" cy="37745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628525" y="4256050"/>
            <a:ext cx="54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gustavo/b4sh0xf</a:t>
            </a:r>
            <a:endParaRPr b="1" i="0" sz="1800" u="none" cap="none" strike="noStrike">
              <a:solidFill>
                <a:srgbClr val="9303D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0x01: whoami?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Mono"/>
              <a:buChar char="●"/>
            </a:pP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estudante de engenharia da computação </a:t>
            </a:r>
            <a:r>
              <a:rPr b="1" lang="pt-BR"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@</a:t>
            </a: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CIn-UFPE.</a:t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Char char="●"/>
            </a:pPr>
            <a:r>
              <a:rPr b="1" lang="pt-BR"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profissional</a:t>
            </a: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de segurança ofensiva (web/mobile)</a:t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Char char="●"/>
            </a:pP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ctf player @ </a:t>
            </a:r>
            <a:r>
              <a:rPr b="1" lang="pt-BR"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hackersOnSteroids</a:t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5575" y="3781663"/>
            <a:ext cx="1205699" cy="1016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logo_h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375" y="3984388"/>
            <a:ext cx="1681574" cy="6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6513" y="3984375"/>
            <a:ext cx="2290226" cy="6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199" y="3686900"/>
            <a:ext cx="1205700" cy="12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37175" y="186350"/>
            <a:ext cx="51483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0x02: resumo da talk</a:t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00800" y="801575"/>
            <a:ext cx="85788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iremos começar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entendendo no detalhe 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 que é o SSL pinning e terminaremos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com uma PoC de bypass manual dessa proteção em um aplicativo autoral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tópicos: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 que é o ssl pinning?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por quê ele é implementado?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ainda faz sentido implementá-lo?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overview sobre a linguagem SMALI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○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hands-on: bypassando manualmente o ssl pinning de uma aplicação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337175" y="186350"/>
            <a:ext cx="51483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0x03: o que é o SSL pinning?</a:t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técnica que consiste em registrar no aplicativo um certificado ssl ou uma chave pública (mais comum) para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validar 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 comunicação do aplicativo com a sua api.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 aplicativo faz a requisição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e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a api devolve a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response 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com a chave pública do seu certificado ssl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.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daí, 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é feita a comparação com aquela que foi </a:t>
            </a:r>
            <a:r>
              <a:rPr lang="pt-BR" sz="16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pinnada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no aplicativo.</a:t>
            </a:r>
            <a:endParaRPr b="0" i="0" sz="12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entendeu ou quer que desenhe?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6" name="Google Shape;86;p17"/>
          <p:cNvSpPr txBox="1"/>
          <p:nvPr/>
        </p:nvSpPr>
        <p:spPr>
          <a:xfrm flipH="1">
            <a:off x="95375" y="5143500"/>
            <a:ext cx="9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0x01: whoami?</a:t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Mono"/>
              <a:buChar char="●"/>
            </a:pP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estudante de engenharia da computação no CIn-UFPE.</a:t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Char char="●"/>
            </a:pP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estudante de segurança ofensiva (web/mobile)</a:t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Char char="●"/>
            </a:pPr>
            <a:r>
              <a:rPr b="1" i="0" lang="pt-BR" sz="15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aluno/ctf player @hacking club</a:t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87" name="Google Shape;87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5151" y="678950"/>
            <a:ext cx="6753695" cy="39937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3269800" y="4549975"/>
            <a:ext cx="49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figura 1: esquema visual</a:t>
            </a:r>
            <a:endParaRPr b="0" i="1" sz="12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0x04: por quê ele é implementado?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essa proteção deixa o aplicativo </a:t>
            </a:r>
            <a:r>
              <a:rPr b="0" i="0" lang="pt-BR" sz="1600" u="none" cap="none" strike="sng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seguro</a:t>
            </a: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contra a utilização de proxies para ataques MITM, evitando com que as requests feitas pelo app sejam interceptadas e/ou modificadas por web proxies.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337" y="3098975"/>
            <a:ext cx="1307325" cy="13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337175" y="186350"/>
            <a:ext cx="5782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0x05: ainda faz sentido implementá-lo?</a:t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atualmente, essa proteção é vista como desnecessária, e tem o seu uso desencorajado por empresas como Google e Cloudflare.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nos últimos anos, o tempo de duração dos certificados CA tem diminuído, além da rotação constante de certificados intermediários. isso implica em atualizações obrigatórias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100% bypassável!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pt-BR" sz="18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vencimento de certificados SSL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5325" y="893600"/>
            <a:ext cx="5713449" cy="35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1033350" y="4486525"/>
            <a:ext cx="70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pt-BR" sz="12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figura 2. interrupções causadas por vencimento de certificados em 2023/2024</a:t>
            </a:r>
            <a:endParaRPr b="1" i="1" sz="12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0x06: overview sobre SMALI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linguagem semelhante ao assembly. fase intermediária entre o código de alto nível (java/kotlin/flutter) e o DEX bytecode, que é o que de fato é executado pelo ART e roda o aplicativo.</a:t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b="0" i="0" lang="pt-BR" sz="1600" u="none" cap="none" strike="noStrike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em um cenário de ofuscação de código, para fazer uma engenharia reversa eficiente, é necessário entender o código smali do aplicativo. modificações no aplicativo também são feitas diretamente no código smali.</a:t>
            </a:r>
            <a:endParaRPr b="0" i="0" sz="12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extra: brincando com SMALI.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1775" y="929325"/>
            <a:ext cx="3731382" cy="3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337175" y="186350"/>
            <a:ext cx="51483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extra: código original em java</a:t>
            </a:r>
            <a:endParaRPr b="1" sz="18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50" y="1439513"/>
            <a:ext cx="8227975" cy="26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/>
        </p:nvSpPr>
        <p:spPr>
          <a:xfrm>
            <a:off x="337175" y="186350"/>
            <a:ext cx="78264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pt-BR" sz="18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HostnameVerifier#verify + CertificatePinner#check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b="-4600" l="0" r="0" t="4600"/>
          <a:stretch/>
        </p:blipFill>
        <p:spPr>
          <a:xfrm>
            <a:off x="291275" y="907400"/>
            <a:ext cx="8561450" cy="29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13" y="3760600"/>
            <a:ext cx="8852727" cy="1109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/>
        </p:nvSpPr>
        <p:spPr>
          <a:xfrm>
            <a:off x="337175" y="186350"/>
            <a:ext cx="78264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pt-BR" sz="18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HostnameVerifier#verify + CertificatePinner#check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725" y="758750"/>
            <a:ext cx="5649374" cy="402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/>
        </p:nvSpPr>
        <p:spPr>
          <a:xfrm>
            <a:off x="337175" y="186350"/>
            <a:ext cx="78264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pt-BR" sz="18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HostnameVerifier#verify + CertificatePinner#check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50" y="1658950"/>
            <a:ext cx="8293351" cy="1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/>
        </p:nvSpPr>
        <p:spPr>
          <a:xfrm>
            <a:off x="337175" y="186350"/>
            <a:ext cx="78264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pt-BR" sz="18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HostnameVerifier#verify + CertificatePinner#check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500" y="1336550"/>
            <a:ext cx="6757006" cy="31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/>
        </p:nvSpPr>
        <p:spPr>
          <a:xfrm>
            <a:off x="337175" y="186350"/>
            <a:ext cx="78264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pt-BR" sz="180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HostnameVerifier#verify + CertificatePinner#check</a:t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37" y="1664399"/>
            <a:ext cx="8599325" cy="18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0x07: PoC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71" name="Google Shape;171;p29" title="ssl pinning got you!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725" y="661725"/>
            <a:ext cx="7503663" cy="42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1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0x07: PoC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78" name="Google Shape;178;p30" title="200 OK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650" y="688425"/>
            <a:ext cx="7408700" cy="416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/>
        </p:nvSpPr>
        <p:spPr>
          <a:xfrm>
            <a:off x="337175" y="186350"/>
            <a:ext cx="51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9303DE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</a:t>
            </a:r>
            <a:r>
              <a:rPr b="1" i="0" lang="pt-BR" sz="2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lang="pt-BR" sz="20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0x08: refs</a:t>
            </a:r>
            <a:endParaRPr b="0" i="0" sz="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400800" y="801575"/>
            <a:ext cx="81684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SemiBold"/>
              <a:buChar char="●"/>
            </a:pPr>
            <a:r>
              <a:rPr lang="pt-BR" sz="16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blogpost cloudflare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blogpost 8ksec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5"/>
              </a:rPr>
              <a:t>smali docs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6"/>
              </a:rPr>
              <a:t>smali cheatsheet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7"/>
              </a:rPr>
              <a:t>HostnameVerifier#verify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Mono SemiBold"/>
              <a:buChar char="●"/>
            </a:pPr>
            <a:r>
              <a:rPr lang="pt-BR" sz="1600" u="sng">
                <a:solidFill>
                  <a:schemeClr val="hlink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8"/>
              </a:rPr>
              <a:t>CertificatePinner#check</a:t>
            </a:r>
            <a:endParaRPr sz="16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29300" y="1226888"/>
            <a:ext cx="2689725" cy="2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8784000" y="0"/>
            <a:ext cx="375900" cy="5143500"/>
          </a:xfrm>
          <a:prstGeom prst="rect">
            <a:avLst/>
          </a:prstGeom>
          <a:solidFill>
            <a:srgbClr val="930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2146500" y="2036175"/>
            <a:ext cx="485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4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QUESTIONS?</a:t>
            </a:r>
            <a:endParaRPr b="1" i="0" sz="3200" u="none" cap="none" strike="noStrike">
              <a:solidFill>
                <a:srgbClr val="005C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0" y="0"/>
            <a:ext cx="375900" cy="5143500"/>
          </a:xfrm>
          <a:prstGeom prst="rect">
            <a:avLst/>
          </a:prstGeom>
          <a:solidFill>
            <a:srgbClr val="930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2" title="logo_h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6038" y="3769650"/>
            <a:ext cx="1147825" cy="4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